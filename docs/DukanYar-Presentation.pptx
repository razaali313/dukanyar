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41848" y="123444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0" i="0">
                <a:solidFill>
                  <a:srgbClr val="1E3A2C"/>
                </a:solidFill>
                <a:latin typeface="Calibri" panose="020F0502020204030204"/>
              </a:rPr>
              <a:t>🏪</a:t>
            </a:r>
            <a:endParaRPr sz="3600" b="0" i="0">
              <a:solidFill>
                <a:srgbClr val="1E3A2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7048" y="23774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54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7528" y="3401568"/>
            <a:ext cx="14630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6393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1B5E43"/>
                </a:solidFill>
                <a:latin typeface="Segoe Print" panose="02000600000000000000"/>
              </a:rPr>
              <a:t>“Aapki awaaz, aapka khata.”</a:t>
            </a:r>
            <a:endParaRPr sz="2400" b="1" i="0">
              <a:solidFill>
                <a:srgbClr val="1B5E43"/>
              </a:solidFill>
              <a:latin typeface="Segoe Print" panose="0200060000000000000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7048" y="422452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0" i="1">
                <a:solidFill>
                  <a:srgbClr val="6E6754"/>
                </a:solidFill>
                <a:latin typeface="Georgia" panose="02040502050405020303"/>
              </a:rPr>
              <a:t>Your voice is your ledger — record-keeping for Pakistan's corner-store shopkeepers.</a:t>
            </a:r>
            <a:endParaRPr sz="1450" b="0" i="1">
              <a:solidFill>
                <a:srgbClr val="6E6754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7048" y="5074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E3A2C"/>
                </a:solidFill>
                <a:latin typeface="Calibri" panose="020F0502020204030204"/>
              </a:rPr>
              <a:t>Team DukanYar</a:t>
            </a:r>
            <a:endParaRPr sz="1300" b="1" i="0">
              <a:solidFill>
                <a:srgbClr val="1E3A2C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6048" y="5596128"/>
            <a:ext cx="2286000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577900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  •  Financial Inclusion Track</a:t>
            </a:r>
            <a:endParaRPr sz="1200" b="0" i="0">
              <a:solidFill>
                <a:srgbClr val="6E675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6980" y="347472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THE PROBLEM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spc="250">
                <a:solidFill>
                  <a:srgbClr val="C05B3C"/>
                </a:solidFill>
                <a:latin typeface="Calibri" panose="020F0502020204030204"/>
              </a:rPr>
              <a:t>FINANCIAL INCLUSION TRACK</a:t>
            </a:r>
            <a:endParaRPr sz="1200" b="1" i="0" spc="250">
              <a:solidFill>
                <a:srgbClr val="C05B3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63093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900" b="1" i="0">
                <a:solidFill>
                  <a:srgbClr val="1E3A2C"/>
                </a:solidFill>
                <a:latin typeface="Georgia" panose="02040502050405020303"/>
              </a:rPr>
              <a:t>Every small shop keeps running —
</a:t>
            </a:r>
            <a:r>
              <a:rPr sz="2900" b="1" i="0">
                <a:solidFill>
                  <a:srgbClr val="1B5E43"/>
                </a:solidFill>
                <a:latin typeface="Georgia" panose="02040502050405020303"/>
              </a:rPr>
              <a:t>but the books never do.</a:t>
            </a:r>
            <a:endParaRPr sz="2900" b="1" i="0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6E6754"/>
                </a:solidFill>
                <a:latin typeface="Georgia" panose="02040502050405020303"/>
              </a:rPr>
              <a:t>Shopkeepers like Rasheed run all day on memory — and lose money to it.</a:t>
            </a:r>
            <a:endParaRPr sz="1400" b="0" i="1">
              <a:solidFill>
                <a:srgbClr val="6E6754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Kiryana (corner-store) shopkeepers are the backbone of Pakistan's retail — yet most keep </a:t>
            </a:r>
            <a:r>
              <a:rPr sz="1250" b="1" i="0">
                <a:solidFill>
                  <a:srgbClr val="1E3A2C"/>
                </a:solidFill>
                <a:latin typeface="Calibri" panose="020F0502020204030204"/>
              </a:rPr>
              <a:t>no reliable record of sales, credit, stock or expenses. </a:t>
            </a: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Writing is too slow at a busy counter, and existing software demands reading, typing and navigation that doesn't fit their day — or their literacy level.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1938528" cy="1115568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ctr"/>
            <a:r>
              <a:rPr sz="2000" b="1" i="0">
                <a:solidFill>
                  <a:srgbClr val="1B5E43"/>
                </a:solidFill>
                <a:latin typeface="Georgia" panose="02040502050405020303"/>
              </a:rPr>
              <a:t>1M+</a:t>
            </a:r>
            <a:endParaRPr sz="20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kiryana &amp; small retail shops across Pakistan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9464" y="4434840"/>
            <a:ext cx="1938528" cy="1115568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ctr"/>
            <a:r>
              <a:rPr sz="2000" b="1" i="0">
                <a:solidFill>
                  <a:srgbClr val="1B5E43"/>
                </a:solidFill>
                <a:latin typeface="Georgia" panose="02040502050405020303"/>
              </a:rPr>
              <a:t>~90%</a:t>
            </a:r>
            <a:endParaRPr sz="20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of grocery retail flows through these small shops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36008" y="4434840"/>
            <a:ext cx="1938528" cy="1115568"/>
          </a:xfrm>
          <a:prstGeom prst="roundRect">
            <a:avLst>
              <a:gd name="adj" fmla="val 12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ctr"/>
            <a:r>
              <a:rPr sz="2000" b="1" i="0">
                <a:solidFill>
                  <a:srgbClr val="1B5E43"/>
                </a:solidFill>
                <a:latin typeface="Georgia" panose="02040502050405020303"/>
              </a:rPr>
              <a:t>0</a:t>
            </a:r>
            <a:endParaRPr sz="20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typing a shopkeeper should need at the counter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03720" y="1188720"/>
            <a:ext cx="4800600" cy="914400"/>
          </a:xfrm>
          <a:prstGeom prst="roundRect">
            <a:avLst>
              <a:gd name="adj" fmla="val 14000"/>
            </a:avLst>
          </a:prstGeom>
          <a:solidFill>
            <a:srgbClr val="FBE4DA"/>
          </a:solidFill>
          <a:ln w="9525">
            <a:solidFill>
              <a:srgbClr val="F0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59168" y="136245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6D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C05B3C"/>
                </a:solidFill>
                <a:latin typeface="Georgia" panose="02040502050405020303"/>
              </a:rPr>
              <a:t>01</a:t>
            </a:r>
            <a:endParaRPr sz="1200" b="1" i="0">
              <a:solidFill>
                <a:srgbClr val="C05B3C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07808" y="1289304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C05B3C"/>
                </a:solidFill>
                <a:latin typeface="Calibri" panose="020F0502020204030204"/>
              </a:rPr>
              <a:t>Credit lives in memory</a:t>
            </a:r>
            <a:endParaRPr sz="1250" b="1" i="0">
              <a:solidFill>
                <a:srgbClr val="C05B3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Informal credit is tracked on trust and scraps of paper — money quietly leaks away and disputes follow.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80060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59168" y="241401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4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1B5E43"/>
                </a:solidFill>
                <a:latin typeface="Georgia" panose="02040502050405020303"/>
              </a:rPr>
              <a:t>02</a:t>
            </a:r>
            <a:endParaRPr sz="1200" b="1" i="0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07808" y="2340864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3A2C"/>
                </a:solidFill>
                <a:latin typeface="Calibri" panose="020F0502020204030204"/>
              </a:rPr>
              <a:t>Writing is too slow</a:t>
            </a:r>
            <a:endParaRPr sz="12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Recording every sale by hand can't keep up with a busy counter full of waiting customers.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03720" y="3291840"/>
            <a:ext cx="480060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59168" y="346557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4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1B5E43"/>
                </a:solidFill>
                <a:latin typeface="Georgia" panose="02040502050405020303"/>
              </a:rPr>
              <a:t>03</a:t>
            </a:r>
            <a:endParaRPr sz="1200" b="1" i="0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07808" y="3392424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3A2C"/>
                </a:solidFill>
                <a:latin typeface="Calibri" panose="020F0502020204030204"/>
              </a:rPr>
              <a:t>Apps assume literacy</a:t>
            </a:r>
            <a:endParaRPr sz="12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POS software is built for reading, typing and English — not for a voice-first shopkeeper.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903720" y="4343400"/>
            <a:ext cx="480060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59168" y="451713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4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1B5E43"/>
                </a:solidFill>
                <a:latin typeface="Georgia" panose="02040502050405020303"/>
              </a:rPr>
              <a:t>04</a:t>
            </a:r>
            <a:endParaRPr sz="1200" b="1" i="0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07808" y="4443984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3A2C"/>
                </a:solidFill>
                <a:latin typeface="Calibri" panose="020F0502020204030204"/>
              </a:rPr>
              <a:t>Flying blind</a:t>
            </a:r>
            <a:endParaRPr sz="12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No visibility into daily profit, low stock or outstanding credit — decisions run on guesswork.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 rot="21360000">
            <a:off x="9646920" y="5413248"/>
            <a:ext cx="2057400" cy="896112"/>
          </a:xfrm>
          <a:prstGeom prst="roundRect">
            <a:avLst>
              <a:gd name="adj" fmla="val 4000"/>
            </a:avLst>
          </a:prstGeom>
          <a:solidFill>
            <a:srgbClr val="F6E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rtlCol="0" anchor="ctr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4E4224"/>
                </a:solidFill>
                <a:latin typeface="Segoe Print" panose="02000600000000000000"/>
              </a:rPr>
              <a:t>“Better records today,
for a better tomorrow.”</a:t>
            </a:r>
            <a:endParaRPr sz="1150" b="1" i="0">
              <a:solidFill>
                <a:srgbClr val="4E4224"/>
              </a:solidFill>
              <a:latin typeface="Segoe Print" panose="02000600000000000000"/>
            </a:endParaRPr>
          </a:p>
          <a:p>
            <a:pPr algn="r"/>
            <a:r>
              <a:rPr sz="1000" b="0" i="0">
                <a:solidFill>
                  <a:srgbClr val="7A6A3A"/>
                </a:solidFill>
                <a:latin typeface="Segoe Print" panose="02000600000000000000"/>
              </a:rPr>
              <a:t>— DukanYar</a:t>
            </a:r>
            <a:endParaRPr sz="1000" b="0" i="0">
              <a:solidFill>
                <a:srgbClr val="7A6A3A"/>
              </a:solidFill>
              <a:latin typeface="Segoe Print" panose="0200060000000000000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02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30967" y="347472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WHO IT'S FOR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i="0">
                <a:solidFill>
                  <a:srgbClr val="1E3A2C"/>
                </a:solidFill>
                <a:latin typeface="Georgia" panose="02040502050405020303"/>
              </a:rPr>
              <a:t>Meet Rasheed.</a:t>
            </a:r>
            <a:endParaRPr sz="3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4480560" cy="443484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1E3A2C"/>
                </a:solidFill>
                <a:latin typeface="Georgia" panose="02040502050405020303"/>
              </a:rPr>
              <a:t>R</a:t>
            </a:r>
            <a:endParaRPr sz="24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1975104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1E3A2C"/>
                </a:solidFill>
                <a:latin typeface="Georgia" panose="02040502050405020303"/>
              </a:rPr>
              <a:t>Rasheed, 45</a:t>
            </a:r>
            <a:endParaRPr sz="1900" b="1" i="0">
              <a:solidFill>
                <a:srgbClr val="1E3A2C"/>
              </a:solidFill>
              <a:latin typeface="Georgia" panose="02040502050405020303"/>
            </a:endParaRPr>
          </a:p>
          <a:p>
            <a:r>
              <a:rPr sz="1100" b="0" i="0">
                <a:solidFill>
                  <a:srgbClr val="6E6754"/>
                </a:solidFill>
                <a:latin typeface="Calibri" panose="020F0502020204030204"/>
              </a:rPr>
              <a:t>Rasheed General Store — Lahore</a:t>
            </a:r>
            <a:endParaRPr sz="11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Runs the counter alone, ~12 hours a day, ~200 customers.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Reads a little Urdu; never types.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Sends WhatsApp voice notes daily — voice is natural to him, screens are not.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His khata: memory, plus a paper notebook nobody reconciles.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B5E43"/>
                </a:solidFill>
                <a:latin typeface="Segoe Print" panose="02000600000000000000"/>
              </a:rPr>
              <a:t>“Who has time to write it all down?”</a:t>
            </a:r>
            <a:endParaRPr sz="1400" b="1" i="0">
              <a:solidFill>
                <a:srgbClr val="1B5E43"/>
              </a:solidFill>
              <a:latin typeface="Segoe Print" panose="0200060000000000000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16916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spc="250">
                <a:solidFill>
                  <a:srgbClr val="C05B3C"/>
                </a:solidFill>
                <a:latin typeface="Calibri" panose="020F0502020204030204"/>
              </a:rPr>
              <a:t>A DAY AT HIS COUNTER</a:t>
            </a:r>
            <a:endParaRPr sz="1200" b="1" i="0" spc="250">
              <a:solidFill>
                <a:srgbClr val="C05B3C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96128" y="2240280"/>
            <a:ext cx="27432" cy="3794760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7548" y="2276856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212848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7:00 AM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Shutter up. First sales before he has had his chai.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527548" y="3063239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999232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12:30 PM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Rush hour: three customers, one pair of hands. A neighbour takes goods on credit — noted nowhere.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27548" y="384962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785615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4:00 PM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The supplier asks what's running low. He guesses.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527548" y="4636008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57200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9:00 PM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He tries to recall the day's credit. Some of it is already gone.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27548" y="542239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5358384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11:00 PM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Shutter down — with no idea what today's profit was.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03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30967" y="347472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THE SOLUTION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1" i="0">
                <a:solidFill>
                  <a:srgbClr val="1E3A2C"/>
                </a:solidFill>
                <a:latin typeface="Georgia" panose="02040502050405020303"/>
              </a:rPr>
              <a:t>DukanYar turns spoken words at the counter into a
complete shop ledger — </a:t>
            </a:r>
            <a:r>
              <a:rPr sz="2700" b="1" i="0">
                <a:solidFill>
                  <a:srgbClr val="1B5E43"/>
                </a:solidFill>
                <a:latin typeface="Georgia" panose="02040502050405020303"/>
              </a:rPr>
              <a:t>with zero typing.</a:t>
            </a:r>
            <a:endParaRPr sz="2700" b="1" i="0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8A93D"/>
                </a:solidFill>
                <a:latin typeface="Georgia" panose="02040502050405020303"/>
              </a:rPr>
              <a:t>01</a:t>
            </a:r>
            <a:endParaRPr sz="2600" b="1" i="0">
              <a:solidFill>
                <a:srgbClr val="E8A93D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3A2C"/>
                </a:solidFill>
                <a:latin typeface="Georgia" panose="02040502050405020303"/>
              </a:rPr>
              <a:t>Record by voice</a:t>
            </a:r>
            <a:endParaRPr sz="1600" b="1" i="0">
              <a:solidFill>
                <a:srgbClr val="1E3A2C"/>
              </a:solidFill>
              <a:latin typeface="Georgia" panose="02040502050405020303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Speak a sale as it happens; it's parsed, confirmed on screen, and logged — stock adjusts automatically.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867912"/>
            <a:ext cx="685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8A93D"/>
                </a:solidFill>
                <a:latin typeface="Georgia" panose="02040502050405020303"/>
              </a:rPr>
              <a:t>02</a:t>
            </a:r>
            <a:endParaRPr sz="2600" b="1" i="0">
              <a:solidFill>
                <a:srgbClr val="E8A93D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3886200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3A2C"/>
                </a:solidFill>
                <a:latin typeface="Georgia" panose="02040502050405020303"/>
              </a:rPr>
              <a:t>Track udhaar (credit)</a:t>
            </a:r>
            <a:endParaRPr sz="1600" b="1" i="0">
              <a:solidFill>
                <a:srgbClr val="1E3A2C"/>
              </a:solidFill>
              <a:latin typeface="Georgia" panose="02040502050405020303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A per-customer credit ledger: give, repay, and look up any balance by name or khata number.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5038344"/>
            <a:ext cx="685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8A93D"/>
                </a:solidFill>
                <a:latin typeface="Georgia" panose="02040502050405020303"/>
              </a:rPr>
              <a:t>03</a:t>
            </a:r>
            <a:endParaRPr sz="2600" b="1" i="0">
              <a:solidFill>
                <a:srgbClr val="E8A93D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5056632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3A2C"/>
                </a:solidFill>
                <a:latin typeface="Georgia" panose="02040502050405020303"/>
              </a:rPr>
              <a:t>Know your shop</a:t>
            </a:r>
            <a:endParaRPr sz="1600" b="1" i="0">
              <a:solidFill>
                <a:srgbClr val="1E3A2C"/>
              </a:solidFill>
              <a:latin typeface="Georgia" panose="02040502050405020303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Today's sales, profit, low stock and outstanding credit — on screen at a glance.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78040" y="2697480"/>
            <a:ext cx="4526280" cy="2880360"/>
          </a:xfrm>
          <a:prstGeom prst="roundRect">
            <a:avLst>
              <a:gd name="adj" fmla="val 8000"/>
            </a:avLst>
          </a:prstGeom>
          <a:solidFill>
            <a:srgbClr val="E4EBE2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017520"/>
            <a:ext cx="3886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0" i="1">
                <a:solidFill>
                  <a:srgbClr val="1E3A2C"/>
                </a:solidFill>
                <a:latin typeface="Georgia" panose="02040502050405020303"/>
              </a:rPr>
              <a:t>Rasheed ends his day knowing his profit, his stock, and who owes him what — without writing a word.</a:t>
            </a:r>
            <a:endParaRPr sz="1600" b="0" i="1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15" name="Rounded Rectangle 14"/>
          <p:cNvSpPr/>
          <p:nvPr/>
        </p:nvSpPr>
        <p:spPr>
          <a:xfrm rot="21360000">
            <a:off x="9509760" y="501777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6E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E4224"/>
                </a:solidFill>
                <a:latin typeface="Segoe Print" panose="02000600000000000000"/>
              </a:rPr>
              <a:t>Sa</a:t>
            </a:r>
            <a:r>
              <a:rPr lang="en-US" sz="1200" b="1" i="0">
                <a:solidFill>
                  <a:srgbClr val="4E4224"/>
                </a:solidFill>
                <a:latin typeface="Segoe Print" panose="02000600000000000000"/>
              </a:rPr>
              <a:t>le</a:t>
            </a:r>
            <a:r>
              <a:rPr sz="1200" b="1" i="0">
                <a:solidFill>
                  <a:srgbClr val="4E4224"/>
                </a:solidFill>
                <a:latin typeface="Segoe Print" panose="02000600000000000000"/>
              </a:rPr>
              <a:t> Udhaar · Kharcha</a:t>
            </a:r>
            <a:endParaRPr sz="1200" b="1" i="0">
              <a:solidFill>
                <a:srgbClr val="4E4224"/>
              </a:solidFill>
              <a:latin typeface="Segoe Print" panose="0200060000000000000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04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30967" y="347472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WHY DUKANYAR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1E3A2C"/>
                </a:solidFill>
                <a:latin typeface="Georgia" panose="02040502050405020303"/>
              </a:rPr>
              <a:t>Why not the paper khata — or a POS app?</a:t>
            </a:r>
            <a:endParaRPr sz="2600" b="1" i="0">
              <a:solidFill>
                <a:srgbClr val="1E3A2C"/>
              </a:solidFill>
              <a:latin typeface="Georgia" panose="020405020504050203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83112" cy="3547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660904"/>
                <a:gridCol w="2660904"/>
                <a:gridCol w="2660904"/>
              </a:tblGrid>
              <a:tr h="475488">
                <a:tc>
                  <a:txBody>
                    <a:bodyPr/>
                    <a:lstStyle/>
                    <a:p>
                      <a:pPr algn="l"/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E3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Paper khata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E3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Generic POS apps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E3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DukanYar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B5E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Voice-first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05B3C"/>
                          </a:solidFill>
                          <a:latin typeface="Calibri" panose="020F0502020204030204"/>
                        </a:rPr>
                        <a:t>✗</a:t>
                      </a:r>
                      <a:endParaRPr sz="1300" b="1" i="0">
                        <a:solidFill>
                          <a:srgbClr val="C05B3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05B3C"/>
                          </a:solidFill>
                          <a:latin typeface="Calibri" panose="020F0502020204030204"/>
                        </a:rPr>
                        <a:t>✗</a:t>
                      </a:r>
                      <a:endParaRPr sz="1300" b="1" i="0">
                        <a:solidFill>
                          <a:srgbClr val="C05B3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  Speak it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No reading or typing needed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05B3C"/>
                          </a:solidFill>
                          <a:latin typeface="Calibri" panose="020F0502020204030204"/>
                        </a:rPr>
                        <a:t>✗</a:t>
                      </a:r>
                      <a:endParaRPr sz="1300" b="1" i="0">
                        <a:solidFill>
                          <a:srgbClr val="C05B3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05B3C"/>
                          </a:solidFill>
                          <a:latin typeface="Calibri" panose="020F0502020204030204"/>
                        </a:rPr>
                        <a:t>✗</a:t>
                      </a:r>
                      <a:endParaRPr sz="1300" b="1" i="0">
                        <a:solidFill>
                          <a:srgbClr val="C05B3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  Voice in, voice out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Urdu-native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</a:t>
                      </a:r>
                      <a:endParaRPr sz="130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6E6754"/>
                          </a:solidFill>
                          <a:latin typeface="Calibri" panose="020F0502020204030204"/>
                        </a:rPr>
                        <a:t>Rarely</a:t>
                      </a:r>
                      <a:endParaRPr sz="1150" b="0" i="0">
                        <a:solidFill>
                          <a:srgbClr val="6E6754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  Built in Urdu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Credit (udhaar) ledger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6E6754"/>
                          </a:solidFill>
                          <a:latin typeface="Calibri" panose="020F0502020204030204"/>
                        </a:rPr>
                        <a:t>Manual, error-prone</a:t>
                      </a:r>
                      <a:endParaRPr sz="1150" b="0" i="0">
                        <a:solidFill>
                          <a:srgbClr val="6E6754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6E6754"/>
                          </a:solidFill>
                          <a:latin typeface="Calibri" panose="020F0502020204030204"/>
                        </a:rPr>
                        <a:t>Partial</a:t>
                      </a:r>
                      <a:endParaRPr sz="1150" b="0" i="0">
                        <a:solidFill>
                          <a:srgbClr val="6E6754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  Per-customer, with lookup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Inventory awareness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05B3C"/>
                          </a:solidFill>
                          <a:latin typeface="Calibri" panose="020F0502020204030204"/>
                        </a:rPr>
                        <a:t>✗</a:t>
                      </a:r>
                      <a:endParaRPr sz="1300" b="1" i="0">
                        <a:solidFill>
                          <a:srgbClr val="C05B3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</a:t>
                      </a:r>
                      <a:endParaRPr sz="130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DF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✓  Auto stock update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3A2C"/>
                          </a:solidFill>
                          <a:latin typeface="Calibri" panose="020F0502020204030204"/>
                        </a:rPr>
                        <a:t>Cost</a:t>
                      </a:r>
                      <a:endParaRPr sz="1200" b="1" i="0">
                        <a:solidFill>
                          <a:srgbClr val="1E3A2C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6E6754"/>
                          </a:solidFill>
                          <a:latin typeface="Calibri" panose="020F0502020204030204"/>
                        </a:rPr>
                        <a:t>Free — until mistakes</a:t>
                      </a:r>
                      <a:endParaRPr sz="1150" b="0" i="0">
                        <a:solidFill>
                          <a:srgbClr val="6E6754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6E6754"/>
                          </a:solidFill>
                          <a:latin typeface="Calibri" panose="020F0502020204030204"/>
                        </a:rPr>
                        <a:t>$10–30 / month</a:t>
                      </a:r>
                      <a:endParaRPr sz="1150" b="0" i="0">
                        <a:solidFill>
                          <a:srgbClr val="6E6754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5E43"/>
                          </a:solidFill>
                          <a:latin typeface="Calibri" panose="020F0502020204030204"/>
                        </a:rPr>
                        <a:t>Near-zero infra today</a:t>
                      </a:r>
                      <a:endParaRPr sz="1150" b="1" i="0">
                        <a:solidFill>
                          <a:srgbClr val="1B5E43"/>
                        </a:solidFill>
                        <a:latin typeface="Calibri" panose="020F0502020204030204"/>
                      </a:endParaRPr>
                    </a:p>
                  </a:txBody>
                  <a:tcPr marL="128016" anchor="ctr">
                    <a:solidFill>
                      <a:srgbClr val="E4EBE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 i="1">
                <a:solidFill>
                  <a:srgbClr val="1B5E43"/>
                </a:solidFill>
                <a:latin typeface="Georgia" panose="02040502050405020303"/>
              </a:rPr>
              <a:t>Built for how a Pakistani shopkeeper actually works — not how software wishes he worked.</a:t>
            </a:r>
            <a:endParaRPr sz="1450" b="1" i="1">
              <a:solidFill>
                <a:srgbClr val="1B5E43"/>
              </a:solidFill>
              <a:latin typeface="Georgia" panose="020405020504050203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05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30967" y="347472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HOW IT WORKS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E3A2C"/>
                </a:solidFill>
                <a:latin typeface="Georgia" panose="02040502050405020303"/>
              </a:rPr>
              <a:t>From spoken sentence to saved record — seven steps, one tap.</a:t>
            </a:r>
            <a:endParaRPr sz="24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1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Tap an action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Sale · Udhaar · Kharcha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852928" y="2029968"/>
            <a:ext cx="329184" cy="237744"/>
          </a:xfrm>
          <a:prstGeom prst="right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691640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0136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2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Hold the mic &amp; speak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Plain spoken Urdu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413248" y="2029968"/>
            <a:ext cx="329184" cy="237744"/>
          </a:xfrm>
          <a:prstGeom prst="right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1691640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80136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3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Agent extracts details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Asks one question if unclear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973567" y="2029968"/>
            <a:ext cx="329184" cy="237744"/>
          </a:xfrm>
          <a:prstGeom prst="right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691640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0136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4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Confirmation card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Items, amount, customer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9281160" y="2724912"/>
            <a:ext cx="237744" cy="365760"/>
          </a:xfrm>
          <a:prstGeom prst="down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3218688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328416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5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One tap to confirm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Nothing saves without it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7927848" y="3557016"/>
            <a:ext cx="329184" cy="237744"/>
          </a:xfrm>
          <a:prstGeom prst="left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720" y="3218688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328416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6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Ledger &amp; stock update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Sale, khata or expense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4" name="Left Arrow 23"/>
          <p:cNvSpPr/>
          <p:nvPr/>
        </p:nvSpPr>
        <p:spPr>
          <a:xfrm>
            <a:off x="5367528" y="3557016"/>
            <a:ext cx="329184" cy="237744"/>
          </a:xfrm>
          <a:prstGeom prst="left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3218688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328416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8A93D"/>
                </a:solidFill>
                <a:latin typeface="Georgia" panose="02040502050405020303"/>
              </a:rPr>
              <a:t>7  </a:t>
            </a:r>
            <a:r>
              <a:rPr sz="1150" b="1" i="0">
                <a:solidFill>
                  <a:srgbClr val="1E3A2C"/>
                </a:solidFill>
                <a:latin typeface="Calibri" panose="020F0502020204030204"/>
              </a:rPr>
              <a:t>Spoken reply</a:t>
            </a:r>
            <a:endParaRPr sz="1150" b="1" i="0">
              <a:solidFill>
                <a:srgbClr val="1E3A2C"/>
              </a:solidFill>
              <a:latin typeface="Calibri" panose="020F0502020204030204"/>
            </a:endParaRP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E6754"/>
                </a:solidFill>
                <a:latin typeface="Calibri" panose="020F0502020204030204"/>
              </a:rPr>
              <a:t>Hands stay free</a:t>
            </a:r>
            <a:endParaRPr sz="9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72000"/>
            <a:ext cx="11064240" cy="1481328"/>
          </a:xfrm>
          <a:prstGeom prst="roundRect">
            <a:avLst>
              <a:gd name="adj" fmla="val 8000"/>
            </a:avLst>
          </a:prstGeom>
          <a:solidFill>
            <a:srgbClr val="E4EBE2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5488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 spc="250">
                <a:solidFill>
                  <a:srgbClr val="1B5E43"/>
                </a:solidFill>
                <a:latin typeface="Calibri" panose="020F0502020204030204"/>
              </a:rPr>
              <a:t>ONE SENTENCE, FULLY RECORDED</a:t>
            </a:r>
            <a:endParaRPr sz="1050" b="1" i="0" spc="250">
              <a:solidFill>
                <a:srgbClr val="1B5E43"/>
              </a:solidFill>
              <a:latin typeface="Calibri" panose="020F0502020204030204"/>
            </a:endParaRP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Rasheed taps Sale and says: </a:t>
            </a:r>
            <a:r>
              <a:rPr sz="1250" b="1" i="1">
                <a:solidFill>
                  <a:srgbClr val="1E3A2C"/>
                </a:solidFill>
                <a:latin typeface="Georgia" panose="02040502050405020303"/>
              </a:rPr>
              <a:t>“Sold 2 Coke and 1 Lays.”</a:t>
            </a:r>
            <a:endParaRPr sz="1250" b="1" i="1">
              <a:solidFill>
                <a:srgbClr val="1E3A2C"/>
              </a:solidFill>
              <a:latin typeface="Georgia" panose="02040502050405020303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The card shows Coke ×2, Lays ×1 — Total Rs 310. </a:t>
            </a:r>
            <a:r>
              <a:rPr sz="1250" b="1" i="0">
                <a:solidFill>
                  <a:srgbClr val="1E3A2C"/>
                </a:solidFill>
                <a:latin typeface="Calibri" panose="020F0502020204030204"/>
              </a:rPr>
              <a:t>One tap: </a:t>
            </a: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sale logged, stock reduced, and DukanYar speaks the confirmation back.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06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550908" y="347472"/>
            <a:ext cx="213512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INNOVATION &amp; TECH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1E3A2C"/>
                </a:solidFill>
                <a:latin typeface="Georgia" panose="02040502050405020303"/>
              </a:rPr>
              <a:t>Accuracy by architecture,
not prompt luck.</a:t>
            </a:r>
            <a:endParaRPr sz="24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6035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 i="0">
                <a:solidFill>
                  <a:srgbClr val="1B5E43"/>
                </a:solidFill>
                <a:latin typeface="Calibri" panose="020F0502020204030204"/>
              </a:rPr>
              <a:t>Mode-scoped agent. </a:t>
            </a: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The shopkeeper picks the action; the model only extracts structured fields for that one tool — no free-form intent guessing in a noisy, code-switched counter environment. A deliberate design decision, not a limitation.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250" b="1" i="0">
                <a:solidFill>
                  <a:srgbClr val="1B5E43"/>
                </a:solidFill>
                <a:latin typeface="Calibri" panose="020F0502020204030204"/>
              </a:rPr>
              <a:t>Confirm-then-commit. </a:t>
            </a: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Every write shows a confirmation card first; nothing touches the ledger without explicit approval, and every record type has a reversal path.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50">
                <a:solidFill>
                  <a:srgbClr val="C05B3C"/>
                </a:solidFill>
                <a:latin typeface="Calibri" panose="020F0502020204030204"/>
              </a:rPr>
              <a:t>WHY VOICE-FIRST + LOW-LITERACY IS HARD</a:t>
            </a:r>
            <a:endParaRPr sz="1100" b="1" i="0" spc="250">
              <a:solidFill>
                <a:srgbClr val="C05B3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370832"/>
            <a:ext cx="6035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5B3C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STT hears Urdu script; the model's strong register is Roman-Urdu — the pipeline bridges the two.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5B3C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Natural Urdu speech output needs a transliteration pass before synthesis.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5B3C"/>
                </a:solidFill>
                <a:latin typeface="Calibri" panose="020F0502020204030204"/>
              </a:rPr>
              <a:t>–  </a:t>
            </a:r>
            <a:r>
              <a:rPr sz="1150" b="0" i="0">
                <a:solidFill>
                  <a:srgbClr val="46503F"/>
                </a:solidFill>
                <a:latin typeface="Calibri" panose="020F0502020204030204"/>
              </a:rPr>
              <a:t>Errors are fixed by re-speaking, not re-typing — recovery designed for non-typists.</a:t>
            </a:r>
            <a:endParaRPr sz="11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49440" y="1005840"/>
            <a:ext cx="4754880" cy="5074920"/>
          </a:xfrm>
          <a:prstGeom prst="roundRect">
            <a:avLst>
              <a:gd name="adj" fmla="val 6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300">
                <a:solidFill>
                  <a:srgbClr val="1B5E43"/>
                </a:solidFill>
                <a:latin typeface="Calibri" panose="020F0502020204030204"/>
              </a:rPr>
              <a:t>THE STACK</a:t>
            </a:r>
            <a:endParaRPr sz="1100" b="1" i="0" spc="3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69480" y="1664208"/>
            <a:ext cx="4114800" cy="658368"/>
          </a:xfrm>
          <a:prstGeom prst="roundRect">
            <a:avLst>
              <a:gd name="adj" fmla="val 14000"/>
            </a:avLst>
          </a:prstGeom>
          <a:solidFill>
            <a:srgbClr val="F4F0E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46504"/>
            <a:ext cx="37947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Speech-to-text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Speechmatics — Urdu, enhanced model, custom shop vocabulary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9189720" y="2331720"/>
            <a:ext cx="182880" cy="118872"/>
          </a:xfrm>
          <a:prstGeom prst="down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9480" y="2459736"/>
            <a:ext cx="4114800" cy="658368"/>
          </a:xfrm>
          <a:prstGeom prst="roundRect">
            <a:avLst>
              <a:gd name="adj" fmla="val 14000"/>
            </a:avLst>
          </a:prstGeom>
          <a:solidFill>
            <a:srgbClr val="F4F0E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542032"/>
            <a:ext cx="37947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Reasoning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Groq · gpt-oss-120b — structured extraction + clarifying questions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9189720" y="3127248"/>
            <a:ext cx="182880" cy="118872"/>
          </a:xfrm>
          <a:prstGeom prst="down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3255264"/>
            <a:ext cx="4114800" cy="658368"/>
          </a:xfrm>
          <a:prstGeom prst="roundRect">
            <a:avLst>
              <a:gd name="adj" fmla="val 14000"/>
            </a:avLst>
          </a:prstGeom>
          <a:solidFill>
            <a:srgbClr val="F4F0E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337560"/>
            <a:ext cx="37947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Ledger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Supabase Postgres — triggers auto-adjust stock; per-shop isolation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9189720" y="3922776"/>
            <a:ext cx="182880" cy="118872"/>
          </a:xfrm>
          <a:prstGeom prst="down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9480" y="4050791"/>
            <a:ext cx="4114800" cy="658368"/>
          </a:xfrm>
          <a:prstGeom prst="roundRect">
            <a:avLst>
              <a:gd name="adj" fmla="val 14000"/>
            </a:avLst>
          </a:prstGeom>
          <a:solidFill>
            <a:srgbClr val="F4F0E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133087"/>
            <a:ext cx="37947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Speech out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Edge / Azure neural ur-PK voices, with a transliteration pass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9189720" y="4718304"/>
            <a:ext cx="182880" cy="118872"/>
          </a:xfrm>
          <a:prstGeom prst="downArrow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4846320"/>
            <a:ext cx="4114800" cy="658368"/>
          </a:xfrm>
          <a:prstGeom prst="roundRect">
            <a:avLst>
              <a:gd name="adj" fmla="val 14000"/>
            </a:avLst>
          </a:prstGeom>
          <a:solidFill>
            <a:srgbClr val="F4F0E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928616"/>
            <a:ext cx="37947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5E43"/>
                </a:solidFill>
                <a:latin typeface="Calibri" panose="020F0502020204030204"/>
              </a:rPr>
              <a:t>Application</a:t>
            </a:r>
            <a:endParaRPr sz="1150" b="1" i="0">
              <a:solidFill>
                <a:srgbClr val="1B5E43"/>
              </a:solidFill>
              <a:latin typeface="Calibri" panose="020F0502020204030204"/>
            </a:endParaRPr>
          </a:p>
          <a:p>
            <a:r>
              <a:rPr sz="950" b="0" i="0">
                <a:solidFill>
                  <a:srgbClr val="6E6754"/>
                </a:solidFill>
                <a:latin typeface="Calibri" panose="020F0502020204030204"/>
              </a:rPr>
              <a:t>Next.js frontend · FastAPI backend</a:t>
            </a:r>
            <a:endParaRPr sz="95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69480" y="56875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0" i="1">
                <a:solidFill>
                  <a:srgbClr val="6E6754"/>
                </a:solidFill>
                <a:latin typeface="Calibri" panose="020F0502020204030204"/>
              </a:rPr>
              <a:t>Every AI component sits behind a config-swappable adapter — chosen on quality, latency and cost; replaceable without code changes.</a:t>
            </a:r>
            <a:endParaRPr sz="950" b="0" i="1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07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30967" y="347472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WHAT'S BUILT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1E3A2C"/>
                </a:solidFill>
                <a:latin typeface="Georgia" panose="02040502050405020303"/>
              </a:rPr>
              <a:t>Working end-to-end, today.</a:t>
            </a:r>
            <a:endParaRPr sz="26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6E6754"/>
                </a:solidFill>
                <a:latin typeface="Georgia" panose="02040502050405020303"/>
              </a:rPr>
              <a:t>Log in → dashboard → pick an action → speak → confirm → recorded in the khata.</a:t>
            </a:r>
            <a:endParaRPr sz="1200" b="0" i="1">
              <a:solidFill>
                <a:srgbClr val="6E6754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9436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 i="0">
                <a:solidFill>
                  <a:srgbClr val="1B5E43"/>
                </a:solidFill>
                <a:latin typeface="Calibri" panose="020F0502020204030204"/>
              </a:rPr>
              <a:t>✓  </a:t>
            </a:r>
            <a:r>
              <a:rPr sz="1200" b="0" i="0">
                <a:solidFill>
                  <a:srgbClr val="46503F"/>
                </a:solidFill>
                <a:latin typeface="Calibri" panose="020F0502020204030204"/>
              </a:rPr>
              <a:t>Sales with automatic stock decrement and a low-stock report</a:t>
            </a:r>
            <a:endParaRPr sz="120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 i="0">
                <a:solidFill>
                  <a:srgbClr val="1B5E43"/>
                </a:solidFill>
                <a:latin typeface="Calibri" panose="020F0502020204030204"/>
              </a:rPr>
              <a:t>✓  </a:t>
            </a:r>
            <a:r>
              <a:rPr sz="1200" b="0" i="0">
                <a:solidFill>
                  <a:srgbClr val="46503F"/>
                </a:solidFill>
                <a:latin typeface="Calibri" panose="020F0502020204030204"/>
              </a:rPr>
              <a:t>Udhaar: give, repay, balance lookup, inline customer registration</a:t>
            </a:r>
            <a:endParaRPr sz="120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 i="0">
                <a:solidFill>
                  <a:srgbClr val="1B5E43"/>
                </a:solidFill>
                <a:latin typeface="Calibri" panose="020F0502020204030204"/>
              </a:rPr>
              <a:t>✓  </a:t>
            </a:r>
            <a:r>
              <a:rPr sz="1200" b="0" i="0">
                <a:solidFill>
                  <a:srgbClr val="46503F"/>
                </a:solidFill>
                <a:latin typeface="Calibri" panose="020F0502020204030204"/>
              </a:rPr>
              <a:t>Expenses with automatic category inference</a:t>
            </a:r>
            <a:endParaRPr sz="120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 i="0">
                <a:solidFill>
                  <a:srgbClr val="1B5E43"/>
                </a:solidFill>
                <a:latin typeface="Calibri" panose="020F0502020204030204"/>
              </a:rPr>
              <a:t>✓  </a:t>
            </a:r>
            <a:r>
              <a:rPr sz="1200" b="0" i="0">
                <a:solidFill>
                  <a:srgbClr val="46503F"/>
                </a:solidFill>
                <a:latin typeface="Calibri" panose="020F0502020204030204"/>
              </a:rPr>
              <a:t>Voice in and voice out — interchangeable with text in one thread</a:t>
            </a:r>
            <a:endParaRPr sz="120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 i="0">
                <a:solidFill>
                  <a:srgbClr val="1B5E43"/>
                </a:solidFill>
                <a:latin typeface="Calibri" panose="020F0502020204030204"/>
              </a:rPr>
              <a:t>✓  </a:t>
            </a:r>
            <a:r>
              <a:rPr sz="1200" b="0" i="0">
                <a:solidFill>
                  <a:srgbClr val="46503F"/>
                </a:solidFill>
                <a:latin typeface="Calibri" panose="020F0502020204030204"/>
              </a:rPr>
              <a:t>Today's sales, profit and outstanding credit on the dashboard</a:t>
            </a:r>
            <a:endParaRPr sz="120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4590288"/>
            <a:ext cx="2510028" cy="365760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2700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B5E43"/>
                </a:solidFill>
                <a:latin typeface="Calibri" panose="020F0502020204030204"/>
              </a:rPr>
              <a:t>~86 backend tests passing</a:t>
            </a:r>
            <a:endParaRPr sz="1000" b="1" i="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77540" y="4590288"/>
            <a:ext cx="2424988" cy="365760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2700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B5E43"/>
                </a:solidFill>
                <a:latin typeface="Calibri" panose="020F0502020204030204"/>
              </a:rPr>
              <a:t>Full schema + migrations</a:t>
            </a:r>
            <a:endParaRPr sz="1000" b="1" i="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5065775"/>
            <a:ext cx="2510028" cy="365760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2700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B5E43"/>
                </a:solidFill>
                <a:latin typeface="Calibri" panose="020F0502020204030204"/>
              </a:rPr>
              <a:t>Production frontend build</a:t>
            </a:r>
            <a:endParaRPr sz="1000" b="1" i="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550468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E8A93D"/>
                </a:solidFill>
                <a:latin typeface="Calibri" panose="020F0502020204030204"/>
              </a:rPr>
              <a:t>In progress:  </a:t>
            </a:r>
            <a:r>
              <a:rPr sz="1100" b="0" i="0">
                <a:solidFill>
                  <a:srgbClr val="46503F"/>
                </a:solidFill>
                <a:latin typeface="Calibri" panose="020F0502020204030204"/>
              </a:rPr>
              <a:t>cloud deployment · undo controls · voice reporting queries.</a:t>
            </a:r>
            <a:endParaRPr sz="1100" b="0" i="0">
              <a:solidFill>
                <a:srgbClr val="46503F"/>
              </a:solidFill>
              <a:latin typeface="Calibri" panose="020F0502020204030204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 b="1" i="0">
                <a:solidFill>
                  <a:srgbClr val="1B5E43"/>
                </a:solidFill>
                <a:latin typeface="Calibri" panose="020F0502020204030204"/>
              </a:rPr>
              <a:t>Next:  </a:t>
            </a:r>
            <a:r>
              <a:rPr sz="1100" b="0" i="0">
                <a:solidFill>
                  <a:srgbClr val="46503F"/>
                </a:solidFill>
                <a:latin typeface="Calibri" panose="020F0502020204030204"/>
              </a:rPr>
              <a:t>“Poocho” — a RAG assistant for shop-specific questions · voice catalog building.</a:t>
            </a:r>
            <a:endParaRPr sz="110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0" y="1005840"/>
            <a:ext cx="4892040" cy="4754880"/>
          </a:xfrm>
          <a:prstGeom prst="roundRect">
            <a:avLst>
              <a:gd name="adj" fmla="val 5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-mock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1170432"/>
            <a:ext cx="4572000" cy="36760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67728" y="5257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6E6754"/>
                </a:solidFill>
                <a:latin typeface="Calibri" panose="020F0502020204030204"/>
              </a:rPr>
              <a:t>Product design — the home dashboard (Ghar)</a:t>
            </a:r>
            <a:endParaRPr sz="1050" b="0" i="1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08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1E3A2C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22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34955" y="347472"/>
            <a:ext cx="1751076" cy="384048"/>
          </a:xfrm>
          <a:prstGeom prst="roundRect">
            <a:avLst>
              <a:gd name="adj" fmla="val 50000"/>
            </a:avLst>
          </a:prstGeom>
          <a:solidFill>
            <a:srgbClr val="FDFBF4"/>
          </a:solidFill>
          <a:ln w="15875">
            <a:solidFill>
              <a:srgbClr val="1B5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200">
                <a:solidFill>
                  <a:srgbClr val="1B5E43"/>
                </a:solidFill>
                <a:latin typeface="Calibri" panose="020F0502020204030204"/>
              </a:rPr>
              <a:t>IMPACT &amp; COST</a:t>
            </a:r>
            <a:endParaRPr sz="1100" b="1" i="0" spc="200">
              <a:solidFill>
                <a:srgbClr val="1B5E4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1E3A2C"/>
                </a:solidFill>
                <a:latin typeface="Georgia" panose="02040502050405020303"/>
              </a:rPr>
              <a:t>Financial inclusion starts with a written record.</a:t>
            </a:r>
            <a:endParaRPr sz="30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8328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3383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>
                <a:solidFill>
                  <a:srgbClr val="1B5E43"/>
                </a:solidFill>
                <a:latin typeface="Georgia" panose="02040502050405020303"/>
              </a:rPr>
              <a:t>Recovered credit</a:t>
            </a:r>
            <a:endParaRPr sz="17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Udhaar that used to evaporate from memory becomes a ledger both sides can trust.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0" y="2331720"/>
            <a:ext cx="338328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42032"/>
            <a:ext cx="3383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>
                <a:solidFill>
                  <a:srgbClr val="1B5E43"/>
                </a:solidFill>
                <a:latin typeface="Georgia" panose="02040502050405020303"/>
              </a:rPr>
              <a:t>Daily clarity</a:t>
            </a:r>
            <a:endParaRPr sz="17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For the first time, a shopkeeper closes the day knowing his profit, stock and dues.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1000" y="2331720"/>
            <a:ext cx="338328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542032"/>
            <a:ext cx="3383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>
                <a:solidFill>
                  <a:srgbClr val="1B5E43"/>
                </a:solidFill>
                <a:latin typeface="Georgia" panose="02040502050405020303"/>
              </a:rPr>
              <a:t>A financial footprint</a:t>
            </a:r>
            <a:endParaRPr sz="1700" b="1" i="0">
              <a:solidFill>
                <a:srgbClr val="1B5E43"/>
              </a:solidFill>
              <a:latin typeface="Georgia" panose="02040502050405020303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50" b="0" i="0">
                <a:solidFill>
                  <a:srgbClr val="46503F"/>
                </a:solidFill>
                <a:latin typeface="Calibri" panose="020F0502020204030204"/>
              </a:rPr>
              <a:t>A digital ledger is evidence of income — a first step toward formal credit access for 1M+ undocumented shops.</a:t>
            </a:r>
            <a:endParaRPr sz="1250" b="0" i="0">
              <a:solidFill>
                <a:srgbClr val="46503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489204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DFBF4"/>
          </a:solidFill>
          <a:ln w="9525">
            <a:solidFill>
              <a:srgbClr val="E3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07492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3A2C"/>
                </a:solidFill>
                <a:latin typeface="Calibri" panose="020F0502020204030204"/>
              </a:rPr>
              <a:t>Cost to run:  </a:t>
            </a:r>
            <a:r>
              <a:rPr sz="1400" b="1" i="0">
                <a:solidFill>
                  <a:srgbClr val="1B5E43"/>
                </a:solidFill>
                <a:latin typeface="Calibri" panose="020F0502020204030204"/>
              </a:rPr>
              <a:t>near-zero at current scale (free-tier services) — pricing model TBD.</a:t>
            </a:r>
            <a:endParaRPr sz="1400" b="1" i="0">
              <a:solidFill>
                <a:srgbClr val="1B5E43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150" b="0" i="1">
                <a:solidFill>
                  <a:srgbClr val="6E6754"/>
                </a:solidFill>
                <a:latin typeface="Calibri" panose="020F0502020204030204"/>
              </a:rPr>
              <a:t>Projected ≈ $2–3 per shop / month at scale (not final).</a:t>
            </a:r>
            <a:endParaRPr sz="1150" b="0" i="1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382512"/>
            <a:ext cx="12191695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</a:t>
            </a:r>
            <a:r>
              <a:rPr sz="1000" b="0" i="0">
                <a:solidFill>
                  <a:srgbClr val="6E6754"/>
                </a:solidFill>
                <a:latin typeface="Calibri" panose="020F0502020204030204"/>
              </a:rPr>
              <a:t>      •      Financial Inclusion Track</a:t>
            </a:r>
            <a:endParaRPr sz="1000" b="0" i="0">
              <a:solidFill>
                <a:srgbClr val="6E6754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E3A2C"/>
                </a:solidFill>
                <a:latin typeface="Calibri" panose="020F0502020204030204"/>
              </a:rPr>
              <a:t>09</a:t>
            </a:r>
            <a:endParaRPr sz="1000" b="1" i="0">
              <a:solidFill>
                <a:srgbClr val="1E3A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B5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51576" y="141732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0" i="0">
                <a:solidFill>
                  <a:srgbClr val="1E3A2C"/>
                </a:solidFill>
                <a:latin typeface="Calibri" panose="020F0502020204030204"/>
              </a:rPr>
              <a:t>🏪</a:t>
            </a:r>
            <a:endParaRPr sz="2800" b="0" i="0">
              <a:solidFill>
                <a:srgbClr val="1E3A2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7048" y="228600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E3A2C"/>
                </a:solidFill>
                <a:latin typeface="Georgia" panose="02040502050405020303"/>
              </a:rPr>
              <a:t>DukanYar</a:t>
            </a:r>
            <a:endParaRPr sz="4400" b="1" i="0">
              <a:solidFill>
                <a:srgbClr val="1E3A2C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7048" y="324612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B5E43"/>
                </a:solidFill>
                <a:latin typeface="Segoe Print" panose="02000600000000000000"/>
              </a:rPr>
              <a:t>“Aapki awaaz, aapka khata.”</a:t>
            </a:r>
            <a:endParaRPr sz="2200" b="1" i="0">
              <a:solidFill>
                <a:srgbClr val="1B5E43"/>
              </a:solidFill>
              <a:latin typeface="Segoe Print" panose="0200060000000000000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048" y="40690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0" i="1">
                <a:solidFill>
                  <a:srgbClr val="6E6754"/>
                </a:solidFill>
                <a:latin typeface="Georgia" panose="02040502050405020303"/>
              </a:rPr>
              <a:t>Shukriya — thank you.</a:t>
            </a:r>
            <a:endParaRPr sz="1700" b="0" i="1">
              <a:solidFill>
                <a:srgbClr val="6E6754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56048" y="4892040"/>
            <a:ext cx="2286000" cy="12801"/>
          </a:xfrm>
          <a:prstGeom prst="rect">
            <a:avLst/>
          </a:prstGeom>
          <a:solidFill>
            <a:srgbClr val="E3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5074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E6754"/>
                </a:solidFill>
                <a:latin typeface="Calibri" panose="020F0502020204030204"/>
              </a:rPr>
              <a:t>Bano Qabil × Alibaba Cloud AI Hackathon 2026  •  Financial Inclusion Track</a:t>
            </a:r>
            <a:endParaRPr sz="1200" b="0" i="0">
              <a:solidFill>
                <a:srgbClr val="6E675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6950</Words>
  <Application>WPS Presentation</Application>
  <PresentationFormat>On-screen Show (4:3)</PresentationFormat>
  <Paragraphs>344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Georgia</vt:lpstr>
      <vt:lpstr>Segoe Print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Usman tariq</cp:lastModifiedBy>
  <cp:revision>2</cp:revision>
  <dcterms:created xsi:type="dcterms:W3CDTF">2013-01-27T09:14:00Z</dcterms:created>
  <dcterms:modified xsi:type="dcterms:W3CDTF">2026-09-04T12:36:48Z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F6F373A372CF49EB9C28EE585CE59B11_12</vt:lpwstr>
  </property>
  <property fmtid="{D5CDD505-2E9C-101B-9397-08002B2CF9AE}" pid="3" name="KSOProductBuildVer">
    <vt:lpwstr>1033-12.1.0.28485</vt:lpwstr>
  </property>
</Properties>
</file>